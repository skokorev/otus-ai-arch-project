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8.xml" ContentType="application/vnd.openxmlformats-officedocument.theme+xml"/>
  <Override PartName="/ppt/slideLayouts/slideLayout12.xml" ContentType="application/vnd.openxmlformats-officedocument.presentationml.slideLayout+xml"/>
  <Override PartName="/ppt/theme/theme9.xml" ContentType="application/vnd.openxmlformats-officedocument.theme+xml"/>
  <Override PartName="/ppt/slideLayouts/slideLayout13.xml" ContentType="application/vnd.openxmlformats-officedocument.presentationml.slideLayout+xml"/>
  <Override PartName="/ppt/theme/theme10.xml" ContentType="application/vnd.openxmlformats-officedocument.theme+xml"/>
  <Override PartName="/ppt/slideLayouts/slideLayout14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slideLayouts/slideLayout15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slideLayouts/slideLayout16.xml" ContentType="application/vnd.openxmlformats-officedocument.presentationml.slideLayout+xml"/>
  <Override PartName="/ppt/theme/theme25.xml" ContentType="application/vnd.openxmlformats-officedocument.theme+xml"/>
  <Override PartName="/ppt/slideLayouts/slideLayout17.xml" ContentType="application/vnd.openxmlformats-officedocument.presentationml.slideLayout+xml"/>
  <Override PartName="/ppt/theme/theme26.xml" ContentType="application/vnd.openxmlformats-officedocument.theme+xml"/>
  <Override PartName="/ppt/slideLayouts/slideLayout18.xml" ContentType="application/vnd.openxmlformats-officedocument.presentationml.slideLayout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2"/>
    <p:sldMasterId id="2147483653" r:id="rId3"/>
    <p:sldMasterId id="2147483655" r:id="rId4"/>
    <p:sldMasterId id="2147483657" r:id="rId5"/>
    <p:sldMasterId id="2147483659" r:id="rId6"/>
    <p:sldMasterId id="2147483661" r:id="rId7"/>
    <p:sldMasterId id="2147483663" r:id="rId8"/>
    <p:sldMasterId id="2147483667" r:id="rId9"/>
    <p:sldMasterId id="2147483669" r:id="rId10"/>
    <p:sldMasterId id="2147483671" r:id="rId11"/>
    <p:sldMasterId id="2147483673" r:id="rId12"/>
    <p:sldMasterId id="2147483674" r:id="rId13"/>
    <p:sldMasterId id="2147483675" r:id="rId14"/>
    <p:sldMasterId id="2147483676" r:id="rId15"/>
    <p:sldMasterId id="2147483677" r:id="rId16"/>
    <p:sldMasterId id="2147483678" r:id="rId17"/>
    <p:sldMasterId id="2147483679" r:id="rId18"/>
    <p:sldMasterId id="2147483681" r:id="rId19"/>
    <p:sldMasterId id="2147483682" r:id="rId20"/>
    <p:sldMasterId id="2147483683" r:id="rId21"/>
    <p:sldMasterId id="2147483684" r:id="rId22"/>
    <p:sldMasterId id="2147483685" r:id="rId23"/>
    <p:sldMasterId id="2147483686" r:id="rId24"/>
    <p:sldMasterId id="2147483687" r:id="rId25"/>
    <p:sldMasterId id="2147483689" r:id="rId26"/>
    <p:sldMasterId id="2147483691" r:id="rId27"/>
    <p:sldMasterId id="2147483693" r:id="rId28"/>
    <p:sldMasterId id="2147483694" r:id="rId29"/>
    <p:sldMasterId id="2147483695" r:id="rId30"/>
    <p:sldMasterId id="2147483696" r:id="rId31"/>
  </p:sldMasterIdLst>
  <p:sldIdLst>
    <p:sldId id="256" r:id="rId32"/>
    <p:sldId id="257" r:id="rId33"/>
    <p:sldId id="258" r:id="rId34"/>
    <p:sldId id="259" r:id="rId35"/>
    <p:sldId id="260" r:id="rId36"/>
    <p:sldId id="261" r:id="rId37"/>
    <p:sldId id="262" r:id="rId38"/>
    <p:sldId id="263" r:id="rId39"/>
    <p:sldId id="264" r:id="rId40"/>
    <p:sldId id="265" r:id="rId41"/>
    <p:sldId id="266" r:id="rId42"/>
    <p:sldId id="267" r:id="rId43"/>
    <p:sldId id="268" r:id="rId44"/>
    <p:sldId id="269" r:id="rId45"/>
  </p:sldIdLst>
  <p:sldSz cx="9144000" cy="5143500" type="screen16x9"/>
  <p:notesSz cx="7559675" cy="10691813"/>
  <p:embeddedFontLst>
    <p:embeddedFont>
      <p:font typeface="Roboto" panose="02000000000000000000" pitchFamily="2" charset="0"/>
      <p:regular r:id="rId46"/>
      <p:bold r:id="rId47"/>
      <p:italic r:id="rId48"/>
      <p:boldItalic r:id="rId49"/>
    </p:embeddedFont>
    <p:embeddedFont>
      <p:font typeface="Roboto Medium" panose="02000000000000000000" pitchFamily="2" charset="0"/>
      <p:regular r:id="rId50"/>
      <p:italic r:id="rId5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8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3.xml"/><Relationship Id="rId42" Type="http://schemas.openxmlformats.org/officeDocument/2006/relationships/slide" Target="slides/slide1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40" Type="http://schemas.openxmlformats.org/officeDocument/2006/relationships/slide" Target="slides/slide9.xml"/><Relationship Id="rId45" Type="http://schemas.openxmlformats.org/officeDocument/2006/relationships/slide" Target="slides/slide14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13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4.xml"/><Relationship Id="rId43" Type="http://schemas.openxmlformats.org/officeDocument/2006/relationships/slide" Target="slides/slide12.xml"/><Relationship Id="rId48" Type="http://schemas.openxmlformats.org/officeDocument/2006/relationships/font" Target="fonts/font3.fntdata"/><Relationship Id="rId8" Type="http://schemas.openxmlformats.org/officeDocument/2006/relationships/slideMaster" Target="slideMasters/slideMaster8.xml"/><Relationship Id="rId51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2.xml"/><Relationship Id="rId38" Type="http://schemas.openxmlformats.org/officeDocument/2006/relationships/slide" Target="slides/slide7.xml"/><Relationship Id="rId46" Type="http://schemas.openxmlformats.org/officeDocument/2006/relationships/font" Target="fonts/font1.fntdata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5.xml"/><Relationship Id="rId49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5120" cy="128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95FAC10E-AED1-41E2-947D-6EF8BD77252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5120" cy="128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5120" cy="128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5120" cy="128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5120" cy="128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5120" cy="128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5120" cy="128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5120" cy="128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68B89C1-50CE-435C-88F4-04453D4942F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96DC95E-3FA7-4928-9540-89BE55E1CC4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5120" cy="128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BBB67CF-0B36-40EF-A4C7-AEBC1E4F4F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5120" cy="128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5120" cy="128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F44C798-D0A5-4005-85CE-31F1321E92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5120" cy="128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655CEC6-3E46-4E64-9278-6C01ECF0151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450CB20A-291E-4CA7-B874-A61512FBD75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3443EFA-1198-4D93-802D-36973BDEE1D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6432D37F-BDC8-4840-A216-BD63B52A38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.png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3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4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5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theme" Target="../theme/theme1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3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theme" Target="../theme/theme24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16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17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18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C356C6D-4963-44DF-BC57-C869E8CC0674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" name="Google Shape;49;p12"/>
          <p:cNvSpPr/>
          <p:nvPr/>
        </p:nvSpPr>
        <p:spPr>
          <a:xfrm>
            <a:off x="590400" y="1365120"/>
            <a:ext cx="7988040" cy="34120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" name="Google Shape;53;p13"/>
          <p:cNvSpPr/>
          <p:nvPr/>
        </p:nvSpPr>
        <p:spPr>
          <a:xfrm>
            <a:off x="590400" y="1365120"/>
            <a:ext cx="7988040" cy="34120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8" name="Google Shape;58;p14"/>
          <p:cNvSpPr/>
          <p:nvPr/>
        </p:nvSpPr>
        <p:spPr>
          <a:xfrm>
            <a:off x="606240" y="2144160"/>
            <a:ext cx="7938360" cy="24642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2" name="Google Shape;62;p15"/>
          <p:cNvSpPr/>
          <p:nvPr/>
        </p:nvSpPr>
        <p:spPr>
          <a:xfrm>
            <a:off x="362160" y="1384200"/>
            <a:ext cx="4748400" cy="3393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10;p2"/>
          <p:cNvPicPr/>
          <p:nvPr/>
        </p:nvPicPr>
        <p:blipFill>
          <a:blip r:embed="rId4"/>
          <a:srcRect l="67" r="67"/>
          <a:stretch/>
        </p:blipFill>
        <p:spPr>
          <a:xfrm>
            <a:off x="-18000" y="-10080"/>
            <a:ext cx="9194400" cy="518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44640" y="1769040"/>
            <a:ext cx="7379280" cy="237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5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FACEEB0-670D-411C-89BF-097A0616787A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500400" y="142632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4F49C0-A3A9-419F-ADDF-7EF0D830EA20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7232483-4F4D-4B21-9583-9085C8628EE9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500400" y="821160"/>
            <a:ext cx="8520120" cy="198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F1373E0-61DA-4E6B-A130-5B30AF463DF3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" name="Google Shape;31;p7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800" cy="409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38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120" y="122076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F208DC4-26DD-48E4-BABF-60489FD95D25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0" name="Google Shape;110;p26"/>
          <p:cNvSpPr/>
          <p:nvPr/>
        </p:nvSpPr>
        <p:spPr>
          <a:xfrm>
            <a:off x="932760" y="1748160"/>
            <a:ext cx="2127600" cy="29293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111;p26"/>
          <p:cNvSpPr/>
          <p:nvPr/>
        </p:nvSpPr>
        <p:spPr>
          <a:xfrm>
            <a:off x="3436560" y="1748160"/>
            <a:ext cx="2127600" cy="29293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112;p26"/>
          <p:cNvSpPr/>
          <p:nvPr/>
        </p:nvSpPr>
        <p:spPr>
          <a:xfrm>
            <a:off x="5940000" y="1748160"/>
            <a:ext cx="2127600" cy="29293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113;p26"/>
          <p:cNvSpPr/>
          <p:nvPr/>
        </p:nvSpPr>
        <p:spPr>
          <a:xfrm>
            <a:off x="1073520" y="2075040"/>
            <a:ext cx="1845720" cy="37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Поле для текста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114;p26"/>
          <p:cNvSpPr/>
          <p:nvPr/>
        </p:nvSpPr>
        <p:spPr>
          <a:xfrm>
            <a:off x="3530880" y="2075040"/>
            <a:ext cx="1938600" cy="37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Поле для текста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115;p26"/>
          <p:cNvSpPr/>
          <p:nvPr/>
        </p:nvSpPr>
        <p:spPr>
          <a:xfrm>
            <a:off x="6081120" y="2075040"/>
            <a:ext cx="1938600" cy="37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Поле для текста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95360" y="1494000"/>
            <a:ext cx="4423680" cy="178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pic>
        <p:nvPicPr>
          <p:cNvPr id="67" name="Google Shape;71;p17"/>
          <p:cNvPicPr/>
          <p:nvPr/>
        </p:nvPicPr>
        <p:blipFill>
          <a:blip r:embed="rId3"/>
          <a:stretch/>
        </p:blipFill>
        <p:spPr>
          <a:xfrm>
            <a:off x="5283720" y="843120"/>
            <a:ext cx="3457080" cy="34570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4440" y="1793880"/>
            <a:ext cx="7935120" cy="155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9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0DDB74B-B0CE-4BA7-82A1-418EBAA301D9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pic>
        <p:nvPicPr>
          <p:cNvPr id="72" name="Google Shape;77;p19"/>
          <p:cNvPicPr/>
          <p:nvPr/>
        </p:nvPicPr>
        <p:blipFill>
          <a:blip r:embed="rId3"/>
          <a:stretch/>
        </p:blipFill>
        <p:spPr>
          <a:xfrm>
            <a:off x="922680" y="1821240"/>
            <a:ext cx="1642680" cy="754920"/>
          </a:xfrm>
          <a:prstGeom prst="rect">
            <a:avLst/>
          </a:prstGeom>
          <a:noFill/>
          <a:ln w="0">
            <a:noFill/>
          </a:ln>
          <a:effectLst>
            <a:outerShdw blurRad="142920" dist="28440" dir="5400000" rotWithShape="0">
              <a:srgbClr val="000000">
                <a:alpha val="41000"/>
              </a:srgbClr>
            </a:outerShdw>
          </a:effectLst>
        </p:spPr>
      </p:pic>
      <p:pic>
        <p:nvPicPr>
          <p:cNvPr id="73" name="Google Shape;78;p19"/>
          <p:cNvPicPr/>
          <p:nvPr/>
        </p:nvPicPr>
        <p:blipFill>
          <a:blip r:embed="rId4"/>
          <a:stretch/>
        </p:blipFill>
        <p:spPr>
          <a:xfrm>
            <a:off x="2768400" y="1821240"/>
            <a:ext cx="1642680" cy="754920"/>
          </a:xfrm>
          <a:prstGeom prst="rect">
            <a:avLst/>
          </a:prstGeom>
          <a:noFill/>
          <a:ln w="0">
            <a:noFill/>
          </a:ln>
          <a:effectLst>
            <a:outerShdw blurRad="142920" dist="28440" dir="5400000" rotWithShape="0">
              <a:srgbClr val="000000">
                <a:alpha val="41000"/>
              </a:srgbClr>
            </a:outerShdw>
          </a:effectLst>
        </p:spPr>
      </p:pic>
      <p:pic>
        <p:nvPicPr>
          <p:cNvPr id="74" name="Google Shape;79;p19"/>
          <p:cNvPicPr/>
          <p:nvPr/>
        </p:nvPicPr>
        <p:blipFill>
          <a:blip r:embed="rId5"/>
          <a:stretch/>
        </p:blipFill>
        <p:spPr>
          <a:xfrm>
            <a:off x="4527720" y="1821240"/>
            <a:ext cx="1642680" cy="754920"/>
          </a:xfrm>
          <a:prstGeom prst="rect">
            <a:avLst/>
          </a:prstGeom>
          <a:noFill/>
          <a:ln w="0">
            <a:noFill/>
          </a:ln>
          <a:effectLst>
            <a:outerShdw blurRad="142920" dist="28440" dir="5400000" rotWithShape="0">
              <a:srgbClr val="000000">
                <a:alpha val="41000"/>
              </a:srgbClr>
            </a:outerShdw>
          </a:effectLst>
        </p:spPr>
      </p:pic>
      <p:pic>
        <p:nvPicPr>
          <p:cNvPr id="75" name="Google Shape;80;p19"/>
          <p:cNvPicPr/>
          <p:nvPr/>
        </p:nvPicPr>
        <p:blipFill>
          <a:blip r:embed="rId6"/>
          <a:stretch/>
        </p:blipFill>
        <p:spPr>
          <a:xfrm>
            <a:off x="6347160" y="1821240"/>
            <a:ext cx="1642680" cy="754920"/>
          </a:xfrm>
          <a:prstGeom prst="rect">
            <a:avLst/>
          </a:prstGeom>
          <a:noFill/>
          <a:ln w="0">
            <a:noFill/>
          </a:ln>
          <a:effectLst>
            <a:outerShdw blurRad="142920" dist="28440" dir="5400000" rotWithShape="0">
              <a:srgbClr val="000000">
                <a:alpha val="41000"/>
              </a:srgbClr>
            </a:outerShdw>
          </a:effectLst>
        </p:spPr>
      </p:pic>
      <p:sp>
        <p:nvSpPr>
          <p:cNvPr id="76" name="Google Shape;81;p19"/>
          <p:cNvSpPr/>
          <p:nvPr/>
        </p:nvSpPr>
        <p:spPr>
          <a:xfrm>
            <a:off x="1212840" y="1944720"/>
            <a:ext cx="1062720" cy="41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rgbClr val="EEEEEE"/>
                </a:solidFill>
                <a:effectLst/>
                <a:uFillTx/>
                <a:latin typeface="Roboto"/>
                <a:ea typeface="Roboto"/>
              </a:rPr>
              <a:t>Этап 1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82;p19"/>
          <p:cNvSpPr/>
          <p:nvPr/>
        </p:nvSpPr>
        <p:spPr>
          <a:xfrm>
            <a:off x="3058560" y="1944720"/>
            <a:ext cx="1062720" cy="41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rgbClr val="EEEEEE"/>
                </a:solidFill>
                <a:effectLst/>
                <a:uFillTx/>
                <a:latin typeface="Roboto"/>
                <a:ea typeface="Roboto"/>
              </a:rPr>
              <a:t>Этап 2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83;p19"/>
          <p:cNvSpPr/>
          <p:nvPr/>
        </p:nvSpPr>
        <p:spPr>
          <a:xfrm>
            <a:off x="4817880" y="1944720"/>
            <a:ext cx="1062720" cy="41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rgbClr val="EEEEEE"/>
                </a:solidFill>
                <a:effectLst/>
                <a:uFillTx/>
                <a:latin typeface="Roboto"/>
                <a:ea typeface="Roboto"/>
              </a:rPr>
              <a:t>Этап 3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84;p19"/>
          <p:cNvSpPr/>
          <p:nvPr/>
        </p:nvSpPr>
        <p:spPr>
          <a:xfrm>
            <a:off x="6637320" y="1944720"/>
            <a:ext cx="1062720" cy="41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rgbClr val="EEEEEE"/>
                </a:solidFill>
                <a:effectLst/>
                <a:uFillTx/>
                <a:latin typeface="Roboto"/>
                <a:ea typeface="Roboto"/>
              </a:rPr>
              <a:t>Этап 4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85;p19"/>
          <p:cNvSpPr/>
          <p:nvPr/>
        </p:nvSpPr>
        <p:spPr>
          <a:xfrm>
            <a:off x="982800" y="3241440"/>
            <a:ext cx="1522800" cy="12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об именовании и правил проверки целостностей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86;p19"/>
          <p:cNvSpPr/>
          <p:nvPr/>
        </p:nvSpPr>
        <p:spPr>
          <a:xfrm>
            <a:off x="2828520" y="3241440"/>
            <a:ext cx="1522800" cy="12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об именовании и правил проверки целостностей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87;p19"/>
          <p:cNvSpPr/>
          <p:nvPr/>
        </p:nvSpPr>
        <p:spPr>
          <a:xfrm>
            <a:off x="4587840" y="3241440"/>
            <a:ext cx="1522800" cy="12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об именовании и правил проверки целостностей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88;p19"/>
          <p:cNvSpPr/>
          <p:nvPr/>
        </p:nvSpPr>
        <p:spPr>
          <a:xfrm>
            <a:off x="6406920" y="3241440"/>
            <a:ext cx="1522800" cy="12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об именовании и правил проверки целостностей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graphicFrame>
        <p:nvGraphicFramePr>
          <p:cNvPr id="85" name="Google Shape;91;p20"/>
          <p:cNvGraphicFramePr/>
          <p:nvPr/>
        </p:nvGraphicFramePr>
        <p:xfrm>
          <a:off x="655560" y="1745640"/>
          <a:ext cx="8210160" cy="1494720"/>
        </p:xfrm>
        <a:graphic>
          <a:graphicData uri="http://schemas.openxmlformats.org/drawingml/2006/table">
            <a:tbl>
              <a:tblPr/>
              <a:tblGrid>
                <a:gridCol w="380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1"/>
                        </a:spcAft>
                        <a:tabLst>
                          <a:tab pos="0" algn="l"/>
                        </a:tabLst>
                      </a:pPr>
                      <a:r>
                        <a:rPr lang="ru" sz="17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 Описание эксперимента</a:t>
                      </a:r>
                      <a:r>
                        <a:rPr lang="ru" sz="17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</a:t>
                      </a:r>
                      <a:endParaRPr lang="ru-RU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1"/>
                        </a:spcAft>
                        <a:tabLst>
                          <a:tab pos="0" algn="l"/>
                        </a:tabLst>
                      </a:pPr>
                      <a:r>
                        <a:rPr lang="ru" sz="17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2. Технические детали</a:t>
                      </a:r>
                      <a:endParaRPr lang="ru-RU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5920">
                <a:tc>
                  <a:txBody>
                    <a:bodyPr/>
                    <a:lstStyle/>
                    <a:p>
                      <a:pPr marL="4572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lang="ru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  Гипотеза</a:t>
                      </a:r>
                      <a:endParaRPr lang="ru-RU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lang="ru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  Целевая аудитория</a:t>
                      </a:r>
                      <a:endParaRPr lang="ru-RU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lang="ru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  Ожидаемый результат</a:t>
                      </a:r>
                      <a:endParaRPr lang="ru-RU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31752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lang="ru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</a:t>
                      </a:r>
                      <a:r>
                        <a:rPr lang="ru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Реализация</a:t>
                      </a:r>
                      <a:endParaRPr lang="ru-RU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lang="ru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Настройки</a:t>
                      </a:r>
                      <a:endParaRPr lang="ru-RU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lang="ru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Метрики</a:t>
                      </a:r>
                      <a:endParaRPr lang="ru-RU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93;p21"/>
          <p:cNvSpPr/>
          <p:nvPr/>
        </p:nvSpPr>
        <p:spPr>
          <a:xfrm>
            <a:off x="556200" y="4554000"/>
            <a:ext cx="4239720" cy="33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4240" bIns="842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1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добавьте ссылку на источник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51600" y="1648440"/>
            <a:ext cx="7705800" cy="15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graphicFrame>
        <p:nvGraphicFramePr>
          <p:cNvPr id="89" name="Google Shape;98;p23"/>
          <p:cNvGraphicFramePr/>
          <p:nvPr/>
        </p:nvGraphicFramePr>
        <p:xfrm>
          <a:off x="608760" y="1593720"/>
          <a:ext cx="7960320" cy="2952000"/>
        </p:xfrm>
        <a:graphic>
          <a:graphicData uri="http://schemas.openxmlformats.org/drawingml/2006/table">
            <a:tbl>
              <a:tblPr/>
              <a:tblGrid>
                <a:gridCol w="395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5960">
                <a:tc>
                  <a:txBody>
                    <a:bodyPr/>
                    <a:lstStyle/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Название столбца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Название столбца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Название столбца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4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Текст нежирным шрифтом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Текст нежирным шрифтом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Текст нежирным шрифтом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4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2.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4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3.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4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4.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4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5.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ECB3E32-ADF9-48D4-9F92-D1A7C599FC65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Google Shape;101;p24"/>
          <p:cNvSpPr/>
          <p:nvPr/>
        </p:nvSpPr>
        <p:spPr>
          <a:xfrm>
            <a:off x="791640" y="1039320"/>
            <a:ext cx="3640320" cy="705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02;p24"/>
          <p:cNvSpPr/>
          <p:nvPr/>
        </p:nvSpPr>
        <p:spPr>
          <a:xfrm>
            <a:off x="791640" y="1904760"/>
            <a:ext cx="3640320" cy="705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03;p24"/>
          <p:cNvSpPr/>
          <p:nvPr/>
        </p:nvSpPr>
        <p:spPr>
          <a:xfrm>
            <a:off x="791640" y="2770560"/>
            <a:ext cx="3640320" cy="705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04;p24"/>
          <p:cNvSpPr/>
          <p:nvPr/>
        </p:nvSpPr>
        <p:spPr>
          <a:xfrm>
            <a:off x="791640" y="3636360"/>
            <a:ext cx="3640320" cy="705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05;p24"/>
          <p:cNvSpPr/>
          <p:nvPr/>
        </p:nvSpPr>
        <p:spPr>
          <a:xfrm>
            <a:off x="5533920" y="1409040"/>
            <a:ext cx="2468520" cy="2468520"/>
          </a:xfrm>
          <a:prstGeom prst="roundRect">
            <a:avLst>
              <a:gd name="adj" fmla="val 16667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5120" cy="128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7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5328B4B-B19E-4CE1-BE92-124787CC3167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C9919BC-5C52-4CEC-B899-5BF3853BEAE0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97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97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5" name="Google Shape;129;p31"/>
          <p:cNvSpPr/>
          <p:nvPr/>
        </p:nvSpPr>
        <p:spPr>
          <a:xfrm>
            <a:off x="606240" y="1441080"/>
            <a:ext cx="7938360" cy="35647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800" cy="409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0" name="Google Shape;135;p33"/>
          <p:cNvSpPr/>
          <p:nvPr/>
        </p:nvSpPr>
        <p:spPr>
          <a:xfrm>
            <a:off x="590400" y="1365120"/>
            <a:ext cx="7988040" cy="34120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3" name="Google Shape;140;p34"/>
          <p:cNvSpPr/>
          <p:nvPr/>
        </p:nvSpPr>
        <p:spPr>
          <a:xfrm>
            <a:off x="606240" y="2144160"/>
            <a:ext cx="7938360" cy="24642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46;p35"/>
          <p:cNvPicPr/>
          <p:nvPr/>
        </p:nvPicPr>
        <p:blipFill>
          <a:blip r:embed="rId2"/>
          <a:srcRect l="12400" r="12396"/>
          <a:stretch/>
        </p:blipFill>
        <p:spPr>
          <a:xfrm>
            <a:off x="-75960" y="-3216960"/>
            <a:ext cx="9408240" cy="83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Google Shape;147;p35"/>
          <p:cNvSpPr/>
          <p:nvPr/>
        </p:nvSpPr>
        <p:spPr>
          <a:xfrm>
            <a:off x="433080" y="1535040"/>
            <a:ext cx="7584120" cy="73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" sz="40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Помощник архитектора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148;p35"/>
          <p:cNvPicPr/>
          <p:nvPr/>
        </p:nvPicPr>
        <p:blipFill>
          <a:blip r:embed="rId3"/>
          <a:stretch/>
        </p:blipFill>
        <p:spPr>
          <a:xfrm>
            <a:off x="7913880" y="268920"/>
            <a:ext cx="821880" cy="28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Google Shape;149;p35"/>
          <p:cNvSpPr/>
          <p:nvPr/>
        </p:nvSpPr>
        <p:spPr>
          <a:xfrm>
            <a:off x="629640" y="4138200"/>
            <a:ext cx="2920320" cy="4262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50;p35"/>
          <p:cNvSpPr/>
          <p:nvPr/>
        </p:nvSpPr>
        <p:spPr>
          <a:xfrm>
            <a:off x="885960" y="4127400"/>
            <a:ext cx="2407320" cy="44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" sz="1900" b="0" u="none" strike="noStrike">
                <a:solidFill>
                  <a:srgbClr val="FFFFFF"/>
                </a:solidFill>
                <a:effectLst/>
                <a:uFillTx/>
                <a:latin typeface="Roboto Medium"/>
                <a:ea typeface="Roboto Medium"/>
              </a:rPr>
              <a:t>ИИ-архитектор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151;p35"/>
          <p:cNvPicPr/>
          <p:nvPr/>
        </p:nvPicPr>
        <p:blipFill>
          <a:blip r:embed="rId4"/>
          <a:stretch/>
        </p:blipFill>
        <p:spPr>
          <a:xfrm>
            <a:off x="7409880" y="3083760"/>
            <a:ext cx="1548000" cy="1668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744120" y="1346040"/>
            <a:ext cx="7935120" cy="155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0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Меня хорошо видно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0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&amp; слышно?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157;p36"/>
          <p:cNvPicPr/>
          <p:nvPr/>
        </p:nvPicPr>
        <p:blipFill>
          <a:blip r:embed="rId2"/>
          <a:stretch/>
        </p:blipFill>
        <p:spPr>
          <a:xfrm>
            <a:off x="1544040" y="3841200"/>
            <a:ext cx="545400" cy="54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158;p36"/>
          <p:cNvPicPr/>
          <p:nvPr/>
        </p:nvPicPr>
        <p:blipFill>
          <a:blip r:embed="rId3"/>
          <a:stretch/>
        </p:blipFill>
        <p:spPr>
          <a:xfrm>
            <a:off x="825480" y="3890880"/>
            <a:ext cx="536760" cy="536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00400" y="313560"/>
            <a:ext cx="8520120" cy="184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000" b="1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Защита проекта</a:t>
            </a:r>
            <a:endParaRPr lang="ru-RU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000" b="1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Тема: Помощник архитектора</a:t>
            </a:r>
            <a:endParaRPr lang="ru-RU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ru-RU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ru-RU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ru-RU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64;p37"/>
          <p:cNvSpPr/>
          <p:nvPr/>
        </p:nvSpPr>
        <p:spPr>
          <a:xfrm>
            <a:off x="630000" y="2085840"/>
            <a:ext cx="2349720" cy="231840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65;p37"/>
          <p:cNvSpPr/>
          <p:nvPr/>
        </p:nvSpPr>
        <p:spPr>
          <a:xfrm>
            <a:off x="3899520" y="2336400"/>
            <a:ext cx="3701520" cy="37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ru" sz="2300" b="1" u="none" strike="noStrike" dirty="0">
                <a:solidFill>
                  <a:srgbClr val="3F299A"/>
                </a:solidFill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Сергей Кокорев, к.т.н.</a:t>
            </a:r>
            <a:endParaRPr lang="ru-RU" sz="2300" b="0" u="none" strike="noStrike" dirty="0">
              <a:solidFill>
                <a:srgbClr val="000000"/>
              </a:solidFill>
              <a:effectLst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127" name="Google Shape;166;p37"/>
          <p:cNvSpPr/>
          <p:nvPr/>
        </p:nvSpPr>
        <p:spPr>
          <a:xfrm>
            <a:off x="3899520" y="2893320"/>
            <a:ext cx="3192840" cy="113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ru" sz="1300" b="0" u="none" strike="noStrike" dirty="0">
                <a:solidFill>
                  <a:srgbClr val="000000"/>
                </a:solidFill>
                <a:effectLst/>
                <a:uFillTx/>
                <a:latin typeface="Roboto Medium"/>
                <a:ea typeface="Roboto Medium"/>
              </a:rPr>
              <a:t>Занимал почти все должности по техническо</a:t>
            </a:r>
            <a:r>
              <a:rPr lang="ru-RU" sz="1300" dirty="0">
                <a:solidFill>
                  <a:srgbClr val="000000"/>
                </a:solidFill>
                <a:latin typeface="Roboto Medium"/>
                <a:ea typeface="Roboto Medium"/>
              </a:rPr>
              <a:t>й</a:t>
            </a:r>
            <a:r>
              <a:rPr lang="ru" sz="1300" b="0" u="none" strike="noStrike" dirty="0">
                <a:solidFill>
                  <a:srgbClr val="000000"/>
                </a:solidFill>
                <a:effectLst/>
                <a:uFillTx/>
                <a:latin typeface="Roboto Medium"/>
                <a:ea typeface="Roboto Medium"/>
              </a:rPr>
              <a:t> вертикали – от разработчика до технического директора.</a:t>
            </a:r>
            <a:endParaRPr lang="ru-RU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38560" y="348840"/>
            <a:ext cx="8520120" cy="66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1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План защиты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72;p38"/>
          <p:cNvSpPr/>
          <p:nvPr/>
        </p:nvSpPr>
        <p:spPr>
          <a:xfrm>
            <a:off x="1137960" y="149148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Цель и задачи проекта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73;p38"/>
          <p:cNvSpPr/>
          <p:nvPr/>
        </p:nvSpPr>
        <p:spPr>
          <a:xfrm>
            <a:off x="1137960" y="207144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Какие технологии использовались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74;p38"/>
          <p:cNvSpPr/>
          <p:nvPr/>
        </p:nvSpPr>
        <p:spPr>
          <a:xfrm>
            <a:off x="1137960" y="265176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Что получилось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75;p38"/>
          <p:cNvSpPr/>
          <p:nvPr/>
        </p:nvSpPr>
        <p:spPr>
          <a:xfrm>
            <a:off x="1137960" y="324612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Выводы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80;p38"/>
          <p:cNvSpPr/>
          <p:nvPr/>
        </p:nvSpPr>
        <p:spPr>
          <a:xfrm>
            <a:off x="1137960" y="377280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Вопросы и рекомендации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85;p39"/>
          <p:cNvSpPr/>
          <p:nvPr/>
        </p:nvSpPr>
        <p:spPr>
          <a:xfrm>
            <a:off x="560520" y="324720"/>
            <a:ext cx="8520120" cy="130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3000" b="1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Цель и задачи проекта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9" name="Google Shape;186;p39"/>
          <p:cNvGraphicFramePr/>
          <p:nvPr>
            <p:extLst>
              <p:ext uri="{D42A27DB-BD31-4B8C-83A1-F6EECF244321}">
                <p14:modId xmlns:p14="http://schemas.microsoft.com/office/powerpoint/2010/main" val="1335249250"/>
              </p:ext>
            </p:extLst>
          </p:nvPr>
        </p:nvGraphicFramePr>
        <p:xfrm>
          <a:off x="952560" y="2382120"/>
          <a:ext cx="7238520" cy="3136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9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</a:rPr>
                        <a:t>1.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</a:rPr>
                        <a:t>Найти способ построения рекомендации 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Roboto Medium" panose="02000000000000000000" pitchFamily="2" charset="0"/>
                        <a:ea typeface="Roboto Medium" panose="02000000000000000000" pitchFamily="2" charset="0"/>
                        <a:cs typeface="Roboto Medium" panose="02000000000000000000" pitchFamily="2" charset="0"/>
                      </a:endParaRPr>
                    </a:p>
                  </a:txBody>
                  <a:tcPr marL="198000" marR="91080" marT="91080" marB="910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</a:rPr>
                        <a:t>2.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</a:rPr>
                        <a:t>Отправить рекомендации письмом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Roboto Medium" panose="02000000000000000000" pitchFamily="2" charset="0"/>
                        <a:ea typeface="Roboto Medium" panose="02000000000000000000" pitchFamily="2" charset="0"/>
                        <a:cs typeface="Roboto Medium" panose="02000000000000000000" pitchFamily="2" charset="0"/>
                      </a:endParaRPr>
                    </a:p>
                  </a:txBody>
                  <a:tcPr marL="198000" marR="91080" marT="91080" marB="910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</a:rPr>
                        <a:t>3.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</a:rPr>
                        <a:t>Сформировать выводы по проделанной работе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Roboto Medium" panose="02000000000000000000" pitchFamily="2" charset="0"/>
                        <a:ea typeface="Roboto Medium" panose="02000000000000000000" pitchFamily="2" charset="0"/>
                        <a:cs typeface="Roboto Medium" panose="02000000000000000000" pitchFamily="2" charset="0"/>
                      </a:endParaRPr>
                    </a:p>
                  </a:txBody>
                  <a:tcPr marL="198000" marR="91080" marT="91080" marB="910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</a:rPr>
                        <a:t>4.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</a:rPr>
                        <a:t>Представить соображения по дальнейшему развитию системы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Roboto Medium" panose="02000000000000000000" pitchFamily="2" charset="0"/>
                        <a:ea typeface="Roboto Medium" panose="02000000000000000000" pitchFamily="2" charset="0"/>
                        <a:cs typeface="Roboto Medium" panose="02000000000000000000" pitchFamily="2" charset="0"/>
                      </a:endParaRPr>
                    </a:p>
                  </a:txBody>
                  <a:tcPr marL="198000" marR="91080" marT="91080" marB="910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840">
                <a:tc>
                  <a:txBody>
                    <a:bodyPr/>
                    <a:lstStyle/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tc>
                  <a:txBody>
                    <a:bodyPr/>
                    <a:lstStyle/>
                    <a:p>
                      <a:endParaRPr lang="ru-RU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0" name="Google Shape;187;p39"/>
          <p:cNvSpPr/>
          <p:nvPr/>
        </p:nvSpPr>
        <p:spPr>
          <a:xfrm>
            <a:off x="1628280" y="1386360"/>
            <a:ext cx="5887080" cy="66168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u="none" strike="noStrike" dirty="0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Цель проекта: например – создать систему-советника для получения рекомендаций научных статей из ArXiv</a:t>
            </a:r>
            <a:endParaRPr lang="ru-RU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85;p 1"/>
          <p:cNvSpPr/>
          <p:nvPr/>
        </p:nvSpPr>
        <p:spPr>
          <a:xfrm>
            <a:off x="560520" y="324720"/>
            <a:ext cx="8520120" cy="130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3000" b="1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Case Study: Yahoondex (Яхундекс)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2" name="Google Shape;186;p39"/>
          <p:cNvGraphicFramePr/>
          <p:nvPr>
            <p:extLst>
              <p:ext uri="{D42A27DB-BD31-4B8C-83A1-F6EECF244321}">
                <p14:modId xmlns:p14="http://schemas.microsoft.com/office/powerpoint/2010/main" val="2680978034"/>
              </p:ext>
            </p:extLst>
          </p:nvPr>
        </p:nvGraphicFramePr>
        <p:xfrm>
          <a:off x="952560" y="2382120"/>
          <a:ext cx="7238520" cy="3142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9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 dirty="0">
                          <a:solidFill>
                            <a:srgbClr val="3F299A"/>
                          </a:solidFill>
                          <a:effectLst/>
                          <a:uFillTx/>
                        </a:rPr>
                        <a:t>1.</a:t>
                      </a:r>
                      <a:endParaRPr lang="ru-RU" sz="16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</a:rPr>
                        <a:t>Нужно выбрать максимально полезные статьи для ознакомления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 dirty="0">
                          <a:solidFill>
                            <a:srgbClr val="3F299A"/>
                          </a:solidFill>
                          <a:effectLst/>
                          <a:uFillTx/>
                        </a:rPr>
                        <a:t>2.</a:t>
                      </a:r>
                      <a:endParaRPr lang="ru-RU" sz="16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</a:rPr>
                        <a:t>Дешевая проверка гипотезы (PoC) – набить промт аннотациями с ArXiv и посмотреть на вывод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</a:rPr>
                        <a:t>3.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</a:rPr>
                        <a:t>MPV – сделать агента по выбору максимально интересных аннотаций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</a:rPr>
                        <a:t>4.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</a:rPr>
                        <a:t>Сделать возможность создания нескольких групп по интересам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840">
                <a:tc>
                  <a:txBody>
                    <a:bodyPr/>
                    <a:lstStyle/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tc>
                  <a:txBody>
                    <a:bodyPr/>
                    <a:lstStyle/>
                    <a:p>
                      <a:endParaRPr lang="ru-RU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3" name="Google Shape;187;p39"/>
          <p:cNvSpPr/>
          <p:nvPr/>
        </p:nvSpPr>
        <p:spPr>
          <a:xfrm>
            <a:off x="1628280" y="1386360"/>
            <a:ext cx="5887080" cy="66168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u="none" strike="noStrike" dirty="0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Яхундекс – среднего размера бизнес, область – поисковые технологии. У архитекторов появился бюджет на саморазвитие.</a:t>
            </a:r>
            <a:endParaRPr lang="ru-RU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Какие технологии использовались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5" name="Google Shape;199;p40"/>
          <p:cNvGraphicFramePr/>
          <p:nvPr>
            <p:extLst>
              <p:ext uri="{D42A27DB-BD31-4B8C-83A1-F6EECF244321}">
                <p14:modId xmlns:p14="http://schemas.microsoft.com/office/powerpoint/2010/main" val="2070231289"/>
              </p:ext>
            </p:extLst>
          </p:nvPr>
        </p:nvGraphicFramePr>
        <p:xfrm>
          <a:off x="952560" y="1897920"/>
          <a:ext cx="7238520" cy="3259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</a:rPr>
                        <a:t>1. 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Разработка: Java, Spring boot + projects, ThymeLeaf, Kafka, PostgreSQL, SLF4j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</a:rPr>
                        <a:t>2.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Наблюдаемость: Loki, Prometheus, Grafana, Pyroscope, Tempo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</a:rPr>
                        <a:t>3.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Развёртывание — Docker compose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</a:rPr>
                        <a:t>4.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Подходы — событийные микросервисы</a:t>
                      </a:r>
                      <a:endParaRPr lang="ru-RU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840">
                <a:tc>
                  <a:txBody>
                    <a:bodyPr/>
                    <a:lstStyle/>
                    <a:p>
                      <a:endParaRPr lang="ru-RU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tc>
                  <a:txBody>
                    <a:bodyPr/>
                    <a:lstStyle/>
                    <a:p>
                      <a:endParaRPr lang="ru-RU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98000" marR="91080" marT="91080" marB="910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Что получилось - контекст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Рисунок 146"/>
          <p:cNvPicPr/>
          <p:nvPr/>
        </p:nvPicPr>
        <p:blipFill>
          <a:blip r:embed="rId2"/>
          <a:stretch/>
        </p:blipFill>
        <p:spPr>
          <a:xfrm>
            <a:off x="951120" y="1080000"/>
            <a:ext cx="5923080" cy="3780000"/>
          </a:xfrm>
          <a:prstGeom prst="rect">
            <a:avLst/>
          </a:prstGeom>
          <a:noFill/>
          <a:ln w="3816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000" b="1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Что получилось - </a:t>
            </a:r>
            <a:r>
              <a:rPr lang="ru" sz="3000" b="1" u="none" strike="noStrike" dirty="0">
                <a:solidFill>
                  <a:schemeClr val="dk1"/>
                </a:solidFill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контейнеры</a:t>
            </a:r>
            <a:endParaRPr lang="ru-RU" sz="3000" b="0" u="none" strike="noStrike" dirty="0">
              <a:solidFill>
                <a:srgbClr val="000000"/>
              </a:solidFill>
              <a:effectLst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pic>
        <p:nvPicPr>
          <p:cNvPr id="149" name="Рисунок 148"/>
          <p:cNvPicPr/>
          <p:nvPr/>
        </p:nvPicPr>
        <p:blipFill>
          <a:blip r:embed="rId2"/>
          <a:stretch/>
        </p:blipFill>
        <p:spPr>
          <a:xfrm>
            <a:off x="1620000" y="545040"/>
            <a:ext cx="5247360" cy="4494960"/>
          </a:xfrm>
          <a:prstGeom prst="rect">
            <a:avLst/>
          </a:prstGeom>
          <a:noFill/>
          <a:ln w="3816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Что получилось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title"/>
          </p:nvPr>
        </p:nvSpPr>
        <p:spPr>
          <a:xfrm>
            <a:off x="651960" y="396360"/>
            <a:ext cx="770580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6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Смотрим кино!</a:t>
            </a:r>
            <a:endParaRPr lang="ru-RU" sz="4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Google Shape;321;p49"/>
          <p:cNvPicPr/>
          <p:nvPr/>
        </p:nvPicPr>
        <p:blipFill>
          <a:blip r:embed="rId2"/>
          <a:stretch/>
        </p:blipFill>
        <p:spPr>
          <a:xfrm>
            <a:off x="5080680" y="2200680"/>
            <a:ext cx="499320" cy="499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80000" y="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4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Выводы</a:t>
            </a:r>
            <a:endParaRPr lang="ru-RU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4" name="Google Shape;213;p42"/>
          <p:cNvGraphicFramePr/>
          <p:nvPr/>
        </p:nvGraphicFramePr>
        <p:xfrm>
          <a:off x="769680" y="727200"/>
          <a:ext cx="7238520" cy="4386960"/>
        </p:xfrm>
        <a:graphic>
          <a:graphicData uri="http://schemas.openxmlformats.org/drawingml/2006/table">
            <a:tbl>
              <a:tblPr/>
              <a:tblGrid>
                <a:gridCol w="48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 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Необходимо внимательно настраивать вывод модели для получения предсказуемых результатов.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2.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Если проект не требует немедленного ответа, то можно использовать CPU вместо GPU, либо использовать внешнего провайдера.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3.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Для некоммерческого проекта необходимо особенно тщательно выбирать источник модели и саму модель.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3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4.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Важно создать архитектурные точки расширения для развития системы, если это предполагается.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5.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Коммерческое использование в данном случае — это биллинг, то есть ПДн, то есть — дополнительные требования к ИБ, но в модель они не попадут всё равно.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221;p43"/>
          <p:cNvPicPr/>
          <p:nvPr/>
        </p:nvPicPr>
        <p:blipFill>
          <a:blip r:embed="rId2"/>
          <a:stretch/>
        </p:blipFill>
        <p:spPr>
          <a:xfrm>
            <a:off x="0" y="0"/>
            <a:ext cx="9215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Google Shape;222;p43"/>
          <p:cNvSpPr/>
          <p:nvPr/>
        </p:nvSpPr>
        <p:spPr>
          <a:xfrm>
            <a:off x="387000" y="1844640"/>
            <a:ext cx="7584120" cy="12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" sz="40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Вопросы и рекомендации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223;p43"/>
          <p:cNvSpPr/>
          <p:nvPr/>
        </p:nvSpPr>
        <p:spPr>
          <a:xfrm>
            <a:off x="1214640" y="3061800"/>
            <a:ext cx="1927080" cy="64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если есть вопросы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224;p43"/>
          <p:cNvSpPr/>
          <p:nvPr/>
        </p:nvSpPr>
        <p:spPr>
          <a:xfrm>
            <a:off x="4934880" y="3061800"/>
            <a:ext cx="2145600" cy="41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если вопросов нет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225;p43"/>
          <p:cNvSpPr/>
          <p:nvPr/>
        </p:nvSpPr>
        <p:spPr>
          <a:xfrm>
            <a:off x="722880" y="2846520"/>
            <a:ext cx="491400" cy="83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4300" b="0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</a:t>
            </a:r>
            <a:endParaRPr lang="ru-RU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26;p43"/>
          <p:cNvSpPr/>
          <p:nvPr/>
        </p:nvSpPr>
        <p:spPr>
          <a:xfrm>
            <a:off x="4443480" y="2846520"/>
            <a:ext cx="491400" cy="83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4300" b="0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– </a:t>
            </a:r>
            <a:endParaRPr lang="ru-RU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234;p44"/>
          <p:cNvPicPr/>
          <p:nvPr/>
        </p:nvPicPr>
        <p:blipFill>
          <a:blip r:embed="rId2"/>
          <a:stretch/>
        </p:blipFill>
        <p:spPr>
          <a:xfrm>
            <a:off x="0" y="0"/>
            <a:ext cx="9215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28920" y="1932480"/>
            <a:ext cx="7294680" cy="1955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50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Спасибо за внимание!</a:t>
            </a:r>
            <a:endParaRPr lang="ru-RU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Google Shape;236;p44"/>
          <p:cNvPicPr/>
          <p:nvPr/>
        </p:nvPicPr>
        <p:blipFill>
          <a:blip r:embed="rId3"/>
          <a:stretch/>
        </p:blipFill>
        <p:spPr>
          <a:xfrm>
            <a:off x="6727320" y="231840"/>
            <a:ext cx="2270520" cy="3042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241;p45"/>
          <p:cNvPicPr/>
          <p:nvPr/>
        </p:nvPicPr>
        <p:blipFill>
          <a:blip r:embed="rId2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340</Words>
  <Application>Microsoft Office PowerPoint</Application>
  <PresentationFormat>Экран (16:9)</PresentationFormat>
  <Paragraphs>65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31</vt:i4>
      </vt:variant>
      <vt:variant>
        <vt:lpstr>Заголовки слайдов</vt:lpstr>
      </vt:variant>
      <vt:variant>
        <vt:i4>14</vt:i4>
      </vt:variant>
    </vt:vector>
  </HeadingPairs>
  <TitlesOfParts>
    <vt:vector size="51" baseType="lpstr">
      <vt:lpstr>Symbol</vt:lpstr>
      <vt:lpstr>Times New Roman</vt:lpstr>
      <vt:lpstr>Roboto</vt:lpstr>
      <vt:lpstr>Arial</vt:lpstr>
      <vt:lpstr>Roboto Medium</vt:lpstr>
      <vt:lpstr>Wingdings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Помощник архитектора   </vt:lpstr>
      <vt:lpstr>План защиты</vt:lpstr>
      <vt:lpstr>Презентация PowerPoint</vt:lpstr>
      <vt:lpstr>Презентация PowerPoint</vt:lpstr>
      <vt:lpstr>Какие технологии использовались </vt:lpstr>
      <vt:lpstr>Что получилось - контекст</vt:lpstr>
      <vt:lpstr>Что получилось - контейнеры</vt:lpstr>
      <vt:lpstr>Что получилось</vt:lpstr>
      <vt:lpstr>Выводы 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skokorev@gmail.com</cp:lastModifiedBy>
  <cp:revision>7</cp:revision>
  <dcterms:modified xsi:type="dcterms:W3CDTF">2026-09-25T15:20:44Z</dcterms:modified>
  <dc:language>ru-RU</dc:language>
</cp:coreProperties>
</file>